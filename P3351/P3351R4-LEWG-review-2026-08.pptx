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071" r:id="rId1"/>
  </p:sldMasterIdLst>
  <p:sldIdLst>
    <p:sldId id="256" r:id="rId2"/>
    <p:sldId id="277" r:id="rId3"/>
    <p:sldId id="257" r:id="rId4"/>
    <p:sldId id="262" r:id="rId5"/>
    <p:sldId id="279" r:id="rId6"/>
    <p:sldId id="267" r:id="rId7"/>
    <p:sldId id="282" r:id="rId8"/>
    <p:sldId id="269" r:id="rId9"/>
    <p:sldId id="268" r:id="rId10"/>
    <p:sldId id="270" r:id="rId11"/>
    <p:sldId id="271" r:id="rId12"/>
    <p:sldId id="278" r:id="rId13"/>
    <p:sldId id="280" r:id="rId14"/>
    <p:sldId id="272" r:id="rId15"/>
    <p:sldId id="273" r:id="rId16"/>
    <p:sldId id="274" r:id="rId17"/>
    <p:sldId id="281" r:id="rId18"/>
    <p:sldId id="276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386"/>
    <p:restoredTop sz="94658"/>
  </p:normalViewPr>
  <p:slideViewPr>
    <p:cSldViewPr snapToGrid="0">
      <p:cViewPr varScale="1">
        <p:scale>
          <a:sx n="120" d="100"/>
          <a:sy n="120" d="100"/>
        </p:scale>
        <p:origin x="93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-3175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5760" y="0"/>
                </a:moveTo>
                <a:lnTo>
                  <a:pt x="0" y="0"/>
                </a:lnTo>
                <a:lnTo>
                  <a:pt x="0" y="3090"/>
                </a:lnTo>
                <a:lnTo>
                  <a:pt x="943" y="3090"/>
                </a:lnTo>
                <a:lnTo>
                  <a:pt x="1123" y="3270"/>
                </a:lnTo>
                <a:lnTo>
                  <a:pt x="1123" y="3270"/>
                </a:lnTo>
                <a:lnTo>
                  <a:pt x="1127" y="3272"/>
                </a:lnTo>
                <a:lnTo>
                  <a:pt x="1133" y="3275"/>
                </a:lnTo>
                <a:lnTo>
                  <a:pt x="1139" y="3278"/>
                </a:lnTo>
                <a:lnTo>
                  <a:pt x="1144" y="3278"/>
                </a:lnTo>
                <a:lnTo>
                  <a:pt x="1150" y="3278"/>
                </a:lnTo>
                <a:lnTo>
                  <a:pt x="1155" y="3275"/>
                </a:lnTo>
                <a:lnTo>
                  <a:pt x="1161" y="3272"/>
                </a:lnTo>
                <a:lnTo>
                  <a:pt x="1165" y="3270"/>
                </a:lnTo>
                <a:lnTo>
                  <a:pt x="1345" y="3090"/>
                </a:lnTo>
                <a:lnTo>
                  <a:pt x="5760" y="3090"/>
                </a:lnTo>
                <a:lnTo>
                  <a:pt x="5760" y="0"/>
                </a:lnTo>
                <a:close/>
              </a:path>
            </a:pathLst>
          </a:custGeom>
          <a:ln/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10001" y="1449147"/>
            <a:ext cx="10572000" cy="2971051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10001" y="5280847"/>
            <a:ext cx="10572000" cy="434974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8934D-F5F7-1C4B-B13A-ECE89C6FF0F2}" type="datetimeFigureOut">
              <a:rPr lang="en-US" smtClean="0"/>
              <a:t>8/11/26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E81E7C-B923-4542-9AEB-DE5159EC89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08656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8712" y="2222287"/>
            <a:ext cx="10554574" cy="36365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8934D-F5F7-1C4B-B13A-ECE89C6FF0F2}" type="datetimeFigureOut">
              <a:rPr lang="en-US" smtClean="0"/>
              <a:t>8/11/26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E81E7C-B923-4542-9AEB-DE5159EC89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53722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7"/>
          <p:cNvSpPr/>
          <p:nvPr/>
        </p:nvSpPr>
        <p:spPr bwMode="auto">
          <a:xfrm>
            <a:off x="0" y="1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0" y="0"/>
                </a:moveTo>
                <a:lnTo>
                  <a:pt x="5760" y="0"/>
                </a:lnTo>
                <a:lnTo>
                  <a:pt x="5760" y="3090"/>
                </a:lnTo>
                <a:lnTo>
                  <a:pt x="4817" y="3090"/>
                </a:lnTo>
                <a:lnTo>
                  <a:pt x="4637" y="3270"/>
                </a:lnTo>
                <a:lnTo>
                  <a:pt x="4637" y="3270"/>
                </a:lnTo>
                <a:lnTo>
                  <a:pt x="4633" y="3272"/>
                </a:lnTo>
                <a:lnTo>
                  <a:pt x="4627" y="3275"/>
                </a:lnTo>
                <a:lnTo>
                  <a:pt x="4621" y="3278"/>
                </a:lnTo>
                <a:lnTo>
                  <a:pt x="4616" y="3278"/>
                </a:lnTo>
                <a:lnTo>
                  <a:pt x="4610" y="3278"/>
                </a:lnTo>
                <a:lnTo>
                  <a:pt x="4605" y="3275"/>
                </a:lnTo>
                <a:lnTo>
                  <a:pt x="4599" y="3272"/>
                </a:lnTo>
                <a:lnTo>
                  <a:pt x="4595" y="3270"/>
                </a:lnTo>
                <a:lnTo>
                  <a:pt x="4415" y="3090"/>
                </a:lnTo>
                <a:lnTo>
                  <a:pt x="0" y="309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ln>
            <a:headEnd/>
            <a:tailE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2951396"/>
            <a:ext cx="10561418" cy="1468800"/>
          </a:xfrm>
        </p:spPr>
        <p:txBody>
          <a:bodyPr anchor="b"/>
          <a:lstStyle>
            <a:lvl1pPr algn="r">
              <a:defRPr sz="4800" b="1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000" y="5281201"/>
            <a:ext cx="10561418" cy="433955"/>
          </a:xfrm>
        </p:spPr>
        <p:txBody>
          <a:bodyPr anchor="t">
            <a:no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8934D-F5F7-1C4B-B13A-ECE89C6FF0F2}" type="datetimeFigureOut">
              <a:rPr lang="en-US" smtClean="0"/>
              <a:t>8/11/26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E81E7C-B923-4542-9AEB-DE5159EC89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90154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8712" y="2222287"/>
            <a:ext cx="5185873" cy="363876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7415" y="2222287"/>
            <a:ext cx="5194583" cy="363876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8934D-F5F7-1C4B-B13A-ECE89C6FF0F2}" type="datetimeFigureOut">
              <a:rPr lang="en-US" smtClean="0"/>
              <a:t>8/11/26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E81E7C-B923-4542-9AEB-DE5159EC89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624763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4728" y="2174875"/>
            <a:ext cx="5189857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14729" y="2751138"/>
            <a:ext cx="5189856" cy="3109913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7415" y="2174875"/>
            <a:ext cx="5194583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7415" y="2751138"/>
            <a:ext cx="5194583" cy="3109913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8934D-F5F7-1C4B-B13A-ECE89C6FF0F2}" type="datetimeFigureOut">
              <a:rPr lang="en-US" smtClean="0"/>
              <a:t>8/11/26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E81E7C-B923-4542-9AEB-DE5159EC89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00932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8934D-F5F7-1C4B-B13A-ECE89C6FF0F2}" type="datetimeFigureOut">
              <a:rPr lang="en-US" smtClean="0"/>
              <a:t>8/11/26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E81E7C-B923-4542-9AEB-DE5159EC89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44978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8934D-F5F7-1C4B-B13A-ECE89C6FF0F2}" type="datetimeFigureOut">
              <a:rPr lang="en-US" smtClean="0"/>
              <a:t>8/11/26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E81E7C-B923-4542-9AEB-DE5159EC89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48485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auto">
          <a:xfrm>
            <a:off x="1073151" y="446087"/>
            <a:ext cx="3547533" cy="1814651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3151" y="446088"/>
            <a:ext cx="3547533" cy="1618396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446088"/>
            <a:ext cx="6252633" cy="541496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73151" y="2260738"/>
            <a:ext cx="3547533" cy="360031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8934D-F5F7-1C4B-B13A-ECE89C6FF0F2}" type="datetimeFigureOut">
              <a:rPr lang="en-US" smtClean="0"/>
              <a:t>8/11/26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E81E7C-B923-4542-9AEB-DE5159EC89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442189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4728" y="727522"/>
            <a:ext cx="4852988" cy="1617163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Picture Placeholder 11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6098117" y="0"/>
            <a:ext cx="6093883" cy="6858000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noFill/>
          <a:ln w="9525">
            <a:solidFill>
              <a:schemeClr val="tx2"/>
            </a:solidFill>
            <a:round/>
            <a:headEnd/>
            <a:tailEnd/>
          </a:ln>
          <a:effectLst/>
        </p:spPr>
        <p:txBody>
          <a:bodyPr wrap="square" numCol="1" anchor="t" anchorCtr="0" compatLnSpc="1">
            <a:prstTxWarp prst="textNoShape">
              <a:avLst/>
            </a:prstTxWarp>
            <a:normAutofit/>
          </a:bodyPr>
          <a:lstStyle>
            <a:lvl1pPr algn="ctr">
              <a:buFontTx/>
              <a:buNone/>
              <a:defRPr sz="1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4728" y="2344684"/>
            <a:ext cx="4852988" cy="3516365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885810" y="6041362"/>
            <a:ext cx="976879" cy="365125"/>
          </a:xfrm>
        </p:spPr>
        <p:txBody>
          <a:bodyPr/>
          <a:lstStyle/>
          <a:p>
            <a:fld id="{A238934D-F5F7-1C4B-B13A-ECE89C6FF0F2}" type="datetimeFigureOut">
              <a:rPr lang="en-US" smtClean="0"/>
              <a:t>8/11/26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90396" y="6041362"/>
            <a:ext cx="3295413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4862689" y="5915888"/>
            <a:ext cx="1062155" cy="490599"/>
          </a:xfrm>
        </p:spPr>
        <p:txBody>
          <a:bodyPr/>
          <a:lstStyle/>
          <a:p>
            <a:fld id="{ACE81E7C-B923-4542-9AEB-DE5159EC89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37407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4800600"/>
            <a:ext cx="10561418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Picture Placeholder 14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0" y="0"/>
            <a:ext cx="12192000" cy="4800600"/>
          </a:xfrm>
          <a:custGeom>
            <a:avLst/>
            <a:gdLst/>
            <a:ahLst/>
            <a:cxnLst/>
            <a:rect l="0" t="0" r="r" b="b"/>
            <a:pathLst>
              <a:path w="5760" h="3289">
                <a:moveTo>
                  <a:pt x="5760" y="0"/>
                </a:moveTo>
                <a:lnTo>
                  <a:pt x="0" y="0"/>
                </a:lnTo>
                <a:lnTo>
                  <a:pt x="0" y="3100"/>
                </a:lnTo>
                <a:lnTo>
                  <a:pt x="943" y="3100"/>
                </a:lnTo>
                <a:lnTo>
                  <a:pt x="1123" y="3281"/>
                </a:lnTo>
                <a:lnTo>
                  <a:pt x="1123" y="3281"/>
                </a:lnTo>
                <a:lnTo>
                  <a:pt x="1127" y="3283"/>
                </a:lnTo>
                <a:lnTo>
                  <a:pt x="1133" y="3286"/>
                </a:lnTo>
                <a:lnTo>
                  <a:pt x="1139" y="3289"/>
                </a:lnTo>
                <a:lnTo>
                  <a:pt x="1144" y="3289"/>
                </a:lnTo>
                <a:lnTo>
                  <a:pt x="1150" y="3289"/>
                </a:lnTo>
                <a:lnTo>
                  <a:pt x="1155" y="3286"/>
                </a:lnTo>
                <a:lnTo>
                  <a:pt x="1161" y="3283"/>
                </a:lnTo>
                <a:lnTo>
                  <a:pt x="1165" y="3281"/>
                </a:lnTo>
                <a:lnTo>
                  <a:pt x="1345" y="3100"/>
                </a:lnTo>
                <a:lnTo>
                  <a:pt x="5760" y="3100"/>
                </a:lnTo>
                <a:lnTo>
                  <a:pt x="5760" y="0"/>
                </a:lnTo>
                <a:close/>
              </a:path>
            </a:pathLst>
          </a:custGeom>
          <a:noFill/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numCol="1" anchor="t" anchorCtr="0" compatLnSpc="1">
            <a:prstTxWarp prst="textNoShape">
              <a:avLst/>
            </a:prstTxWarp>
            <a:normAutofit/>
          </a:bodyPr>
          <a:lstStyle>
            <a:lvl1pPr marL="0" indent="0" algn="ctr">
              <a:buFontTx/>
              <a:buNone/>
              <a:defRPr sz="16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0000" y="5367338"/>
            <a:ext cx="10561418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8934D-F5F7-1C4B-B13A-ECE89C6FF0F2}" type="datetimeFigureOut">
              <a:rPr lang="en-US" smtClean="0"/>
              <a:t>8/11/26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E81E7C-B923-4542-9AEB-DE5159EC89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79084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>
            <a:spLocks noChangeAspect="1"/>
          </p:cNvSpPr>
          <p:nvPr/>
        </p:nvSpPr>
        <p:spPr bwMode="auto">
          <a:xfrm>
            <a:off x="631697" y="1081456"/>
            <a:ext cx="6332416" cy="3239188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0985" y="1238502"/>
            <a:ext cx="5893840" cy="2645912"/>
          </a:xfrm>
        </p:spPr>
        <p:txBody>
          <a:bodyPr anchor="b"/>
          <a:lstStyle>
            <a:lvl1pPr algn="l">
              <a:defRPr sz="4200" b="1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3190" y="4443680"/>
            <a:ext cx="5891636" cy="713241"/>
          </a:xfrm>
        </p:spPr>
        <p:txBody>
          <a:bodyPr anchor="t">
            <a:no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7574642" y="1081456"/>
            <a:ext cx="3810001" cy="4075465"/>
          </a:xfrm>
        </p:spPr>
        <p:txBody>
          <a:bodyPr anchor="t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8934D-F5F7-1C4B-B13A-ECE89C6FF0F2}" type="datetimeFigureOut">
              <a:rPr lang="en-US" smtClean="0"/>
              <a:t>8/11/26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E81E7C-B923-4542-9AEB-DE5159EC89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773548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6"/>
          <p:cNvSpPr>
            <a:spLocks noChangeAspect="1"/>
          </p:cNvSpPr>
          <p:nvPr/>
        </p:nvSpPr>
        <p:spPr bwMode="auto">
          <a:xfrm>
            <a:off x="1140884" y="2286585"/>
            <a:ext cx="4895115" cy="2503972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8" name="Title 1"/>
          <p:cNvSpPr>
            <a:spLocks noGrp="1"/>
          </p:cNvSpPr>
          <p:nvPr>
            <p:ph type="title"/>
          </p:nvPr>
        </p:nvSpPr>
        <p:spPr>
          <a:xfrm>
            <a:off x="1357089" y="2435957"/>
            <a:ext cx="4382521" cy="2007789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6156000" y="2286000"/>
            <a:ext cx="4880300" cy="2295525"/>
          </a:xfrm>
        </p:spPr>
        <p:txBody>
          <a:bodyPr anchor="t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8934D-F5F7-1C4B-B13A-ECE89C6FF0F2}" type="datetimeFigureOut">
              <a:rPr lang="en-US" smtClean="0"/>
              <a:t>8/11/26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E81E7C-B923-4542-9AEB-DE5159EC89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550705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8934D-F5F7-1C4B-B13A-ECE89C6FF0F2}" type="datetimeFigureOut">
              <a:rPr lang="en-US" smtClean="0"/>
              <a:t>8/11/26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E81E7C-B923-4542-9AEB-DE5159EC89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126958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auto">
          <a:xfrm>
            <a:off x="7669651" y="446089"/>
            <a:ext cx="4522349" cy="5414962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183540" y="586171"/>
            <a:ext cx="2494791" cy="51347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0001" y="446089"/>
            <a:ext cx="6611540" cy="5414962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8934D-F5F7-1C4B-B13A-ECE89C6FF0F2}" type="datetimeFigureOut">
              <a:rPr lang="en-US" smtClean="0"/>
              <a:t>8/11/26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E81E7C-B923-4542-9AEB-DE5159EC89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3149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effectLst>
            <a:outerShdw blurRad="50800" dir="14400000">
              <a:srgbClr val="000000">
                <a:alpha val="60000"/>
              </a:srgbClr>
            </a:outerShdw>
          </a:effectLst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000" y="2184401"/>
            <a:ext cx="10563285" cy="3674397"/>
          </a:xfrm>
          <a:prstGeom prst="rect">
            <a:avLst/>
          </a:prstGeom>
          <a:effectLst>
            <a:outerShdw blurRad="50800" dir="14400000">
              <a:srgbClr val="000000">
                <a:alpha val="40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A238934D-F5F7-1C4B-B13A-ECE89C6FF0F2}" type="datetimeFigureOut">
              <a:rPr lang="en-US" smtClean="0"/>
              <a:t>8/11/26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</p:spPr>
        <p:txBody>
          <a:bodyPr vert="horz" lIns="91440" tIns="45720" rIns="91440" bIns="10800" rtlCol="0" anchor="b"/>
          <a:lstStyle>
            <a:lvl1pPr algn="r">
              <a:defRPr sz="2000">
                <a:solidFill>
                  <a:schemeClr val="accent1"/>
                </a:solidFill>
              </a:defRPr>
            </a:lvl1pPr>
          </a:lstStyle>
          <a:p>
            <a:fld id="{ACE81E7C-B923-4542-9AEB-DE5159EC89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944878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4072" r:id="rId1"/>
    <p:sldLayoutId id="2147484073" r:id="rId2"/>
    <p:sldLayoutId id="2147484074" r:id="rId3"/>
    <p:sldLayoutId id="2147484075" r:id="rId4"/>
    <p:sldLayoutId id="2147484076" r:id="rId5"/>
    <p:sldLayoutId id="2147484077" r:id="rId6"/>
    <p:sldLayoutId id="2147484078" r:id="rId7"/>
    <p:sldLayoutId id="2147484079" r:id="rId8"/>
    <p:sldLayoutId id="2147484080" r:id="rId9"/>
    <p:sldLayoutId id="2147484081" r:id="rId10"/>
    <p:sldLayoutId id="2147484082" r:id="rId11"/>
    <p:sldLayoutId id="2147484083" r:id="rId12"/>
    <p:sldLayoutId id="2147484084" r:id="rId13"/>
    <p:sldLayoutId id="2147484085" r:id="rId14"/>
  </p:sldLayoutIdLst>
  <p:txStyles>
    <p:titleStyle>
      <a:lvl1pPr algn="l" defTabSz="457200" rtl="0" eaLnBrk="1" latinLnBrk="0" hangingPunct="1">
        <a:spcBef>
          <a:spcPct val="0"/>
        </a:spcBef>
        <a:buNone/>
        <a:defRPr sz="4000" b="1" kern="1200">
          <a:solidFill>
            <a:srgbClr val="FEFEFE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4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36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DD472A-EDB3-8EDE-F5E0-9A46F1103DE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P3351: views::scan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29703D2-B52F-2475-0827-044B051CE4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10001" y="5280847"/>
            <a:ext cx="10572000" cy="703494"/>
          </a:xfrm>
        </p:spPr>
        <p:txBody>
          <a:bodyPr>
            <a:noAutofit/>
          </a:bodyPr>
          <a:lstStyle/>
          <a:p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LEWG Review, 2026-08-11</a:t>
            </a:r>
          </a:p>
          <a:p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Author: Yihe Li</a:t>
            </a:r>
          </a:p>
        </p:txBody>
      </p:sp>
    </p:spTree>
    <p:extLst>
      <p:ext uri="{BB962C8B-B14F-4D97-AF65-F5344CB8AC3E}">
        <p14:creationId xmlns:p14="http://schemas.microsoft.com/office/powerpoint/2010/main" val="4698652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761EAC3-49F3-BD3E-AA17-64D8120434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72976D-F269-68D2-3BE4-3F1223F5BE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</p:spPr>
        <p:txBody>
          <a:bodyPr>
            <a:normAutofit/>
          </a:bodyPr>
          <a:lstStyle/>
          <a:p>
            <a:r>
              <a:rPr lang="en-US" dirty="0"/>
              <a:t>What Is Being Proposed?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D8CB17-B459-B93F-F9C7-D1E4A961BD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8713" y="3929204"/>
            <a:ext cx="11285770" cy="2115996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views::scan family: Lazy version of std::</a:t>
            </a:r>
            <a:r>
              <a:rPr lang="en-US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inclusive_scan</a:t>
            </a:r>
            <a:endParaRPr lang="en-US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Tier 1 item in P2760R1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B45A1BA-4F31-E31E-D6F7-14EEDA21785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023040" y="2246012"/>
            <a:ext cx="10145919" cy="13655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72443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FC4F9E-9AC7-1C20-35F2-95ED93F55E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</p:spPr>
        <p:txBody>
          <a:bodyPr>
            <a:normAutofit/>
          </a:bodyPr>
          <a:lstStyle/>
          <a:p>
            <a:r>
              <a:rPr lang="en-US" dirty="0"/>
              <a:t>A Tale of Three Scans</a:t>
            </a: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A19B1EC2-4DA9-410C-19C0-B8704621E72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32695522"/>
              </p:ext>
            </p:extLst>
          </p:nvPr>
        </p:nvGraphicFramePr>
        <p:xfrm>
          <a:off x="819150" y="2664023"/>
          <a:ext cx="9234484" cy="266192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319212">
                  <a:extLst>
                    <a:ext uri="{9D8B030D-6E8A-4147-A177-3AD203B41FA5}">
                      <a16:colId xmlns:a16="http://schemas.microsoft.com/office/drawing/2014/main" val="2399891124"/>
                    </a:ext>
                  </a:extLst>
                </a:gridCol>
                <a:gridCol w="1319212">
                  <a:extLst>
                    <a:ext uri="{9D8B030D-6E8A-4147-A177-3AD203B41FA5}">
                      <a16:colId xmlns:a16="http://schemas.microsoft.com/office/drawing/2014/main" val="3132078725"/>
                    </a:ext>
                  </a:extLst>
                </a:gridCol>
                <a:gridCol w="1319212">
                  <a:extLst>
                    <a:ext uri="{9D8B030D-6E8A-4147-A177-3AD203B41FA5}">
                      <a16:colId xmlns:a16="http://schemas.microsoft.com/office/drawing/2014/main" val="1995353699"/>
                    </a:ext>
                  </a:extLst>
                </a:gridCol>
                <a:gridCol w="1319212">
                  <a:extLst>
                    <a:ext uri="{9D8B030D-6E8A-4147-A177-3AD203B41FA5}">
                      <a16:colId xmlns:a16="http://schemas.microsoft.com/office/drawing/2014/main" val="2318012571"/>
                    </a:ext>
                  </a:extLst>
                </a:gridCol>
                <a:gridCol w="1319212">
                  <a:extLst>
                    <a:ext uri="{9D8B030D-6E8A-4147-A177-3AD203B41FA5}">
                      <a16:colId xmlns:a16="http://schemas.microsoft.com/office/drawing/2014/main" val="1440391264"/>
                    </a:ext>
                  </a:extLst>
                </a:gridCol>
                <a:gridCol w="1319212">
                  <a:extLst>
                    <a:ext uri="{9D8B030D-6E8A-4147-A177-3AD203B41FA5}">
                      <a16:colId xmlns:a16="http://schemas.microsoft.com/office/drawing/2014/main" val="2216215137"/>
                    </a:ext>
                  </a:extLst>
                </a:gridCol>
                <a:gridCol w="1319212">
                  <a:extLst>
                    <a:ext uri="{9D8B030D-6E8A-4147-A177-3AD203B41FA5}">
                      <a16:colId xmlns:a16="http://schemas.microsoft.com/office/drawing/2014/main" val="20174696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Original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27130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Inclusive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30166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Inclusive Seed=10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474701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Exclusive</a:t>
                      </a:r>
                    </a:p>
                    <a:p>
                      <a:r>
                        <a:rPr lang="en-US" dirty="0"/>
                        <a:t>Seed=10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48196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prescan</a:t>
                      </a:r>
                      <a:endParaRPr lang="en-US" dirty="0"/>
                    </a:p>
                    <a:p>
                      <a:r>
                        <a:rPr lang="en-US" dirty="0"/>
                        <a:t>Seed=10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5950489"/>
                  </a:ext>
                </a:extLst>
              </a:tr>
            </a:tbl>
          </a:graphicData>
        </a:graphic>
      </p:graphicFrame>
      <p:pic>
        <p:nvPicPr>
          <p:cNvPr id="11" name="Picture 10">
            <a:extLst>
              <a:ext uri="{FF2B5EF4-FFF2-40B4-BE49-F238E27FC236}">
                <a16:creationId xmlns:a16="http://schemas.microsoft.com/office/drawing/2014/main" id="{7FBB6035-B4F4-B23B-D5C1-8D89B48FFA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999" y="1973580"/>
            <a:ext cx="9939461" cy="576023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3F4653-3B53-1EBB-12E7-89CB65D6298B}"/>
              </a:ext>
            </a:extLst>
          </p:cNvPr>
          <p:cNvSpPr txBox="1">
            <a:spLocks/>
          </p:cNvSpPr>
          <p:nvPr/>
        </p:nvSpPr>
        <p:spPr>
          <a:xfrm>
            <a:off x="809999" y="5387198"/>
            <a:ext cx="10554138" cy="1401104"/>
          </a:xfrm>
          <a:prstGeom prst="rect">
            <a:avLst/>
          </a:prstGeom>
          <a:effectLst>
            <a:outerShdw blurRad="50800" dir="14400000">
              <a:srgbClr val="000000">
                <a:alpha val="40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Originally, this proposal have </a:t>
            </a:r>
            <a:r>
              <a:rPr lang="en-US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prescan</a:t>
            </a: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 in addition to scan</a:t>
            </a:r>
          </a:p>
          <a:p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Now we only purpose views::scan (inclusive semantics, optional seed)</a:t>
            </a:r>
            <a:endParaRPr lang="en-US" sz="22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036962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26E25F-6973-6267-FCD5-D33842E9D2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Prior Art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93571D-7637-C6D1-3245-7D3F6DC558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8711" y="2222287"/>
            <a:ext cx="10571999" cy="4386743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range-v3: views::</a:t>
            </a:r>
            <a:r>
              <a:rPr lang="en-US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partial_sum</a:t>
            </a:r>
            <a:endParaRPr lang="en-US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tl</a:t>
            </a: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::ranges: views::</a:t>
            </a:r>
            <a:r>
              <a:rPr lang="en-US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partial_sum</a:t>
            </a:r>
            <a:endParaRPr lang="en-US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Algorithm version:</a:t>
            </a:r>
          </a:p>
          <a:p>
            <a:pPr lvl="1"/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STL: std::[in, ex]</a:t>
            </a:r>
            <a:r>
              <a:rPr lang="en-US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clusive_scan</a:t>
            </a: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 (C++17), std::</a:t>
            </a:r>
            <a:r>
              <a:rPr lang="en-US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partial_sum</a:t>
            </a: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 (C++98)</a:t>
            </a:r>
          </a:p>
          <a:p>
            <a:pPr lvl="1"/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Python: </a:t>
            </a:r>
            <a:r>
              <a:rPr lang="en-US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itertools.accumulate</a:t>
            </a:r>
            <a:endParaRPr lang="en-US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/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NumPy: </a:t>
            </a:r>
            <a:r>
              <a:rPr lang="en-US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cumsum</a:t>
            </a: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 / </a:t>
            </a:r>
            <a:r>
              <a:rPr lang="en-US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ufunc.accumulate</a:t>
            </a:r>
            <a:endParaRPr lang="en-US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/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Rust: </a:t>
            </a:r>
            <a:r>
              <a:rPr lang="en-US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iter.scan</a:t>
            </a:r>
            <a:endParaRPr lang="en-US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4937EF2-5067-1E0A-B4E3-E4765E226E7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654642" y="393498"/>
            <a:ext cx="8882714" cy="6071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49104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0FDB8D-BA19-3597-EABA-6A141F2FBE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 Parameter Defaults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1BBB68-D155-7673-8360-3311F53DA8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std::</a:t>
            </a:r>
            <a:r>
              <a:rPr lang="en-US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inclusive_scan</a:t>
            </a: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 defaults its functor to +, why not follow?</a:t>
            </a:r>
          </a:p>
          <a:p>
            <a:pPr lvl="1"/>
            <a:r>
              <a:rPr lang="en-US" sz="2200" dirty="0" err="1">
                <a:latin typeface="Consolas" panose="020B0609020204030204" pitchFamily="49" charset="0"/>
                <a:cs typeface="Consolas" panose="020B0609020204030204" pitchFamily="49" charset="0"/>
              </a:rPr>
              <a:t>vec</a:t>
            </a:r>
            <a:r>
              <a:rPr lang="en-US" sz="2200" dirty="0">
                <a:latin typeface="Consolas" panose="020B0609020204030204" pitchFamily="49" charset="0"/>
                <a:cs typeface="Consolas" panose="020B0609020204030204" pitchFamily="49" charset="0"/>
              </a:rPr>
              <a:t> | views::scan // &lt;- not obvious what this means</a:t>
            </a:r>
          </a:p>
          <a:p>
            <a:pPr lvl="1"/>
            <a:r>
              <a:rPr lang="en-US" sz="2200" dirty="0" err="1">
                <a:latin typeface="Consolas" panose="020B0609020204030204" pitchFamily="49" charset="0"/>
                <a:cs typeface="Consolas" panose="020B0609020204030204" pitchFamily="49" charset="0"/>
              </a:rPr>
              <a:t>vec</a:t>
            </a:r>
            <a:r>
              <a:rPr lang="en-US" sz="2200" dirty="0">
                <a:latin typeface="Consolas" panose="020B0609020204030204" pitchFamily="49" charset="0"/>
                <a:cs typeface="Consolas" panose="020B0609020204030204" pitchFamily="49" charset="0"/>
              </a:rPr>
              <a:t> | views::</a:t>
            </a:r>
            <a:r>
              <a:rPr lang="en-US" sz="2200" dirty="0" err="1">
                <a:latin typeface="Consolas" panose="020B0609020204030204" pitchFamily="49" charset="0"/>
                <a:cs typeface="Consolas" panose="020B0609020204030204" pitchFamily="49" charset="0"/>
              </a:rPr>
              <a:t>partial_sum</a:t>
            </a:r>
            <a:r>
              <a:rPr lang="en-US" sz="2200" dirty="0">
                <a:latin typeface="Consolas" panose="020B0609020204030204" pitchFamily="49" charset="0"/>
                <a:cs typeface="Consolas" panose="020B0609020204030204" pitchFamily="49" charset="0"/>
              </a:rPr>
              <a:t> // &lt;- much better</a:t>
            </a:r>
          </a:p>
          <a:p>
            <a:pPr lvl="1"/>
            <a:r>
              <a:rPr lang="en-US" sz="2200" dirty="0">
                <a:latin typeface="Consolas" panose="020B0609020204030204" pitchFamily="49" charset="0"/>
                <a:cs typeface="Consolas" panose="020B0609020204030204" pitchFamily="49" charset="0"/>
              </a:rPr>
              <a:t>Most other languages do not default (see last slide)</a:t>
            </a:r>
          </a:p>
          <a:p>
            <a:r>
              <a:rPr lang="en-US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SG9 in Hagenberg: no default on functor</a:t>
            </a:r>
          </a:p>
        </p:txBody>
      </p:sp>
    </p:spTree>
    <p:extLst>
      <p:ext uri="{BB962C8B-B14F-4D97-AF65-F5344CB8AC3E}">
        <p14:creationId xmlns:p14="http://schemas.microsoft.com/office/powerpoint/2010/main" val="20996625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27154D-4A6A-541E-5D5F-4967688D5E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More Aliases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595F0C-C91F-55F9-98D7-A085FC0FD9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8712" y="4026663"/>
            <a:ext cx="10554574" cy="2691007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Apply std::plus{}, std::multiplies{}, ranges::min, ranges::max (okay after P3136R1 adopted in </a:t>
            </a:r>
            <a:r>
              <a:rPr lang="en-US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Wrocław</a:t>
            </a: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Originally views::</a:t>
            </a:r>
            <a:r>
              <a:rPr lang="en-US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partial_sum</a:t>
            </a: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 was purposed</a:t>
            </a:r>
          </a:p>
          <a:p>
            <a:r>
              <a:rPr lang="en-US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SG9 in Hagenberg: remove all convenient alias</a:t>
            </a:r>
          </a:p>
        </p:txBody>
      </p:sp>
      <p:pic>
        <p:nvPicPr>
          <p:cNvPr id="5" name="Picture 4" descr="A number on a black background&#10;&#10;Description automatically generated">
            <a:extLst>
              <a:ext uri="{FF2B5EF4-FFF2-40B4-BE49-F238E27FC236}">
                <a16:creationId xmlns:a16="http://schemas.microsoft.com/office/drawing/2014/main" id="{03929843-D53F-2965-69E4-7A7F0D0526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9950" y="2197100"/>
            <a:ext cx="7772400" cy="18321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94638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43A096-8D0C-A1CA-D63C-7EBF8201F1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E29B6E-AADA-C402-B2D0-53CCB5AE67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Naming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73DB180C-764C-73A1-7E07-1192E1A7400D}"/>
              </a:ext>
            </a:extLst>
          </p:cNvPr>
          <p:cNvSpPr txBox="1">
            <a:spLocks/>
          </p:cNvSpPr>
          <p:nvPr/>
        </p:nvSpPr>
        <p:spPr>
          <a:xfrm>
            <a:off x="818712" y="2222287"/>
            <a:ext cx="10554574" cy="4635713"/>
          </a:xfrm>
          <a:prstGeom prst="rect">
            <a:avLst/>
          </a:prstGeom>
          <a:effectLst>
            <a:outerShdw blurRad="50800" dir="14400000">
              <a:srgbClr val="000000">
                <a:alpha val="40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The author prefer views::scan, however...</a:t>
            </a:r>
          </a:p>
          <a:p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Some people stated that it is unclear whether inclusive or exclusive</a:t>
            </a:r>
          </a:p>
          <a:p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Another proposal on std::scan (P1729) does unrelated things</a:t>
            </a:r>
          </a:p>
          <a:p>
            <a:pPr lvl="1"/>
            <a:r>
              <a:rPr lang="en-US" sz="2200" dirty="0">
                <a:latin typeface="Consolas" panose="020B0609020204030204" pitchFamily="49" charset="0"/>
                <a:cs typeface="Consolas" panose="020B0609020204030204" pitchFamily="49" charset="0"/>
              </a:rPr>
              <a:t>Already existing conflict in the STL: </a:t>
            </a:r>
            <a:r>
              <a:rPr lang="en-US" sz="2200" dirty="0" err="1">
                <a:latin typeface="Consolas" panose="020B0609020204030204" pitchFamily="49" charset="0"/>
                <a:cs typeface="Consolas" panose="020B0609020204030204" pitchFamily="49" charset="0"/>
              </a:rPr>
              <a:t>scanf</a:t>
            </a:r>
            <a:r>
              <a:rPr lang="en-US" sz="2200" dirty="0">
                <a:latin typeface="Consolas" panose="020B0609020204030204" pitchFamily="49" charset="0"/>
                <a:cs typeface="Consolas" panose="020B0609020204030204" pitchFamily="49" charset="0"/>
              </a:rPr>
              <a:t> vs </a:t>
            </a:r>
            <a:r>
              <a:rPr lang="en-US" sz="2200" dirty="0" err="1">
                <a:latin typeface="Consolas" panose="020B0609020204030204" pitchFamily="49" charset="0"/>
                <a:cs typeface="Consolas" panose="020B0609020204030204" pitchFamily="49" charset="0"/>
              </a:rPr>
              <a:t>inclusive_scan</a:t>
            </a:r>
            <a:endParaRPr lang="en-US" sz="22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/>
            <a:r>
              <a:rPr lang="en-US" sz="2200" dirty="0">
                <a:latin typeface="Consolas" panose="020B0609020204030204" pitchFamily="49" charset="0"/>
                <a:cs typeface="Consolas" panose="020B0609020204030204" pitchFamily="49" charset="0"/>
              </a:rPr>
              <a:t>Not really conflicting (std:: vs views::)</a:t>
            </a:r>
          </a:p>
          <a:p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Maybe we want to be consistent with STL algorithm and do views::</a:t>
            </a:r>
            <a:r>
              <a:rPr lang="en-US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inclusive_scan</a:t>
            </a: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 or </a:t>
            </a:r>
            <a:r>
              <a:rPr lang="en-US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partial_sum</a:t>
            </a: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? (Or </a:t>
            </a:r>
            <a:r>
              <a:rPr lang="en-US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partial_fold</a:t>
            </a: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 suggested by P2214)</a:t>
            </a:r>
            <a:endParaRPr lang="en-US" sz="22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288795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45C754-EBAB-4C82-AFB5-1AAFEAE25A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Range Properties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9798EE-7182-C642-0ECB-CF90127AD1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Always the fun part</a:t>
            </a:r>
          </a:p>
        </p:txBody>
      </p:sp>
    </p:spTree>
    <p:extLst>
      <p:ext uri="{BB962C8B-B14F-4D97-AF65-F5344CB8AC3E}">
        <p14:creationId xmlns:p14="http://schemas.microsoft.com/office/powerpoint/2010/main" val="27310064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0F0D0E-D8AB-A880-8440-56F332C47C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 and Value Type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F56289-0D7B-B6DB-2A6F-AEC45AF6DC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8712" y="2974066"/>
            <a:ext cx="10554574" cy="1588882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std::accumulate pitfall: [2, 3, 5]</a:t>
            </a:r>
          </a:p>
          <a:p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One possible choice: use the input range’s element type</a:t>
            </a:r>
          </a:p>
          <a:p>
            <a:pPr lvl="1"/>
            <a:r>
              <a:rPr lang="en-US" sz="2200" dirty="0">
                <a:latin typeface="Consolas" panose="020B0609020204030204" pitchFamily="49" charset="0"/>
                <a:cs typeface="Consolas" panose="020B0609020204030204" pitchFamily="49" charset="0"/>
              </a:rPr>
              <a:t>Chosen by range-v3</a:t>
            </a:r>
          </a:p>
        </p:txBody>
      </p:sp>
      <p:pic>
        <p:nvPicPr>
          <p:cNvPr id="6" name="Picture 5" descr="A black background with blue and pink text&#10;&#10;AI-generated content may be incorrect.">
            <a:extLst>
              <a:ext uri="{FF2B5EF4-FFF2-40B4-BE49-F238E27FC236}">
                <a16:creationId xmlns:a16="http://schemas.microsoft.com/office/drawing/2014/main" id="{8CDDCEBE-1167-EF41-51A1-B6EA1F86AF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712" y="2221460"/>
            <a:ext cx="5611200" cy="752606"/>
          </a:xfrm>
          <a:prstGeom prst="rect">
            <a:avLst/>
          </a:prstGeom>
        </p:spPr>
      </p:pic>
      <p:pic>
        <p:nvPicPr>
          <p:cNvPr id="9" name="Picture 8" descr="A black background with blue text&#10;&#10;AI-generated content may be incorrect.">
            <a:extLst>
              <a:ext uri="{FF2B5EF4-FFF2-40B4-BE49-F238E27FC236}">
                <a16:creationId xmlns:a16="http://schemas.microsoft.com/office/drawing/2014/main" id="{2EC2E30D-1B08-9383-7F82-D266AC079B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000" y="4612236"/>
            <a:ext cx="5736331" cy="7526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14958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B07C20-6E74-21B1-C8AD-E7FC9B14A6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 and Value Type (cont’d)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ED7C9A-0A60-E79D-0D78-EC55007A2C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8712" y="2222288"/>
            <a:ext cx="10554574" cy="2132430"/>
          </a:xfrm>
        </p:spPr>
        <p:txBody>
          <a:bodyPr>
            <a:normAutofit/>
          </a:bodyPr>
          <a:lstStyle/>
          <a:p>
            <a:r>
              <a:rPr lang="en-US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decay_t</a:t>
            </a: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&lt;</a:t>
            </a:r>
            <a:r>
              <a:rPr lang="en-US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invoke_result_t</a:t>
            </a: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&lt;F&amp;, T, ranges::</a:t>
            </a:r>
            <a:r>
              <a:rPr lang="en-US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range_reference_t</a:t>
            </a: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&lt;</a:t>
            </a:r>
            <a:r>
              <a:rPr lang="en-US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Rng</a:t>
            </a: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&gt;&gt;&gt;</a:t>
            </a:r>
          </a:p>
          <a:p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Basically, result of </a:t>
            </a:r>
            <a:r>
              <a:rPr lang="en-US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func</a:t>
            </a: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init</a:t>
            </a: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, *begin(</a:t>
            </a:r>
            <a:r>
              <a:rPr lang="en-US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rng</a:t>
            </a: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))</a:t>
            </a:r>
          </a:p>
          <a:p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Chosen by ranges::</a:t>
            </a:r>
            <a:r>
              <a:rPr lang="en-US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fold_left</a:t>
            </a: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 family</a:t>
            </a:r>
          </a:p>
        </p:txBody>
      </p:sp>
      <p:pic>
        <p:nvPicPr>
          <p:cNvPr id="6" name="Picture 5" descr="A black screen with text&#10;&#10;AI-generated content may be incorrect.">
            <a:extLst>
              <a:ext uri="{FF2B5EF4-FFF2-40B4-BE49-F238E27FC236}">
                <a16:creationId xmlns:a16="http://schemas.microsoft.com/office/drawing/2014/main" id="{3A37DD06-92BB-7699-2651-26075E2081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711" y="4354718"/>
            <a:ext cx="9714051" cy="15942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05448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48055F-6715-E5BA-980D-24D2EEF8B8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Transversal Category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3A9F67-E5DA-4D52-0C96-DA6974DF97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Input only since R3</a:t>
            </a:r>
            <a:endParaRPr lang="en-US" sz="2200" dirty="0">
              <a:solidFill>
                <a:schemeClr val="accent6">
                  <a:lumMod val="40000"/>
                  <a:lumOff val="60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Cannot be bidirectional due to storing the current sum</a:t>
            </a:r>
          </a:p>
          <a:p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Cannot be forward due to stashing iterator requirements</a:t>
            </a:r>
          </a:p>
          <a:p>
            <a:pPr lvl="1"/>
            <a:r>
              <a:rPr lang="en-US" sz="2200" dirty="0">
                <a:latin typeface="Consolas" panose="020B0609020204030204" pitchFamily="49" charset="0"/>
                <a:cs typeface="Consolas" panose="020B0609020204030204" pitchFamily="49" charset="0"/>
              </a:rPr>
              <a:t>Choose your potion: copy in operator* or input only</a:t>
            </a:r>
          </a:p>
          <a:p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SG9 in Hagenberg: Make </a:t>
            </a:r>
            <a:r>
              <a:rPr lang="en-US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scan_view</a:t>
            </a: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 input only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D523F7E-5E82-8D8E-18F3-2BE1BA4631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2199" y="5426998"/>
            <a:ext cx="7264400" cy="86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91244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138E8C8-5FB5-57C3-54B0-B833150B0E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34E6DC-2EBD-DC09-5FB1-B09F737B1E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000" y="447188"/>
            <a:ext cx="5359921" cy="970450"/>
          </a:xfrm>
        </p:spPr>
        <p:txBody>
          <a:bodyPr>
            <a:normAutofit/>
          </a:bodyPr>
          <a:lstStyle/>
          <a:p>
            <a:r>
              <a:rPr lang="en-US" dirty="0"/>
              <a:t>Parallelism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6B3B94-727C-E0B9-B133-162677DF89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8712" y="2222287"/>
            <a:ext cx="5351209" cy="4188525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Concern raised about the ability to parallelize the execution of </a:t>
            </a:r>
            <a:r>
              <a:rPr lang="en-US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scan_view</a:t>
            </a:r>
            <a:endParaRPr lang="en-US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Scan itself can be parallelized; hence the </a:t>
            </a:r>
            <a:r>
              <a:rPr lang="en-US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pSTL</a:t>
            </a: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 versions of std::{in, ex}</a:t>
            </a:r>
            <a:r>
              <a:rPr lang="en-US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clusive_scan</a:t>
            </a:r>
            <a:endParaRPr lang="en-US" sz="22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031" name="Rectangle 1030">
            <a:extLst>
              <a:ext uri="{FF2B5EF4-FFF2-40B4-BE49-F238E27FC236}">
                <a16:creationId xmlns:a16="http://schemas.microsoft.com/office/drawing/2014/main" id="{1C524A27-B6C0-41EA-ABCB-AA2E61FC0F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75898" y="0"/>
            <a:ext cx="5713054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3" name="Rounded Rectangle 17">
            <a:extLst>
              <a:ext uri="{FF2B5EF4-FFF2-40B4-BE49-F238E27FC236}">
                <a16:creationId xmlns:a16="http://schemas.microsoft.com/office/drawing/2014/main" id="{F3FCE8DC-E7A6-4A8F-BB57-A87EC4B846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128932" y="958640"/>
            <a:ext cx="4419604" cy="4945244"/>
          </a:xfrm>
          <a:prstGeom prst="roundRect">
            <a:avLst>
              <a:gd name="adj" fmla="val 3513"/>
            </a:avLst>
          </a:prstGeom>
          <a:solidFill>
            <a:schemeClr val="tx1"/>
          </a:solidFill>
          <a:ln>
            <a:solidFill>
              <a:schemeClr val="accent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 descr="A diagram of a diagram of a diagram&#10;&#10;AI-generated content may be incorrect.">
            <a:extLst>
              <a:ext uri="{FF2B5EF4-FFF2-40B4-BE49-F238E27FC236}">
                <a16:creationId xmlns:a16="http://schemas.microsoft.com/office/drawing/2014/main" id="{3A5C833E-34C7-4C3A-28CC-ECC102B5B7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70" r="9492" b="-3"/>
          <a:stretch/>
        </p:blipFill>
        <p:spPr bwMode="auto">
          <a:xfrm>
            <a:off x="7410517" y="1258529"/>
            <a:ext cx="3832042" cy="43302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737325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10DBE5-DB4A-0AD0-3A1D-67B1719275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Parallelism (cont’d)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9FEFC5-ADFC-6949-0573-205E2265C4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8712" y="2222287"/>
            <a:ext cx="10554574" cy="4188525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However, parallelism = random access in the STL</a:t>
            </a:r>
          </a:p>
          <a:p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Although C++17 </a:t>
            </a:r>
            <a:r>
              <a:rPr lang="en-US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pSTL</a:t>
            </a: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 requires only forward iterators, in practice </a:t>
            </a:r>
            <a:r>
              <a:rPr lang="en-US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libc</a:t>
            </a: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++ &amp; </a:t>
            </a:r>
            <a:r>
              <a:rPr lang="en-US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libstdc</a:t>
            </a: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++ downgrade to serial without random access</a:t>
            </a:r>
          </a:p>
          <a:p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Most backends (OpenMP, </a:t>
            </a:r>
            <a:r>
              <a:rPr lang="en-US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oneTBB</a:t>
            </a: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, ...) requires random access</a:t>
            </a:r>
          </a:p>
          <a:p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Not a new problem: views::filter (which is at most bidirectional) already cannot be parallelized</a:t>
            </a:r>
          </a:p>
        </p:txBody>
      </p:sp>
      <p:pic>
        <p:nvPicPr>
          <p:cNvPr id="5" name="Picture 4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2F677782-3398-2745-A17C-E9F9C29C06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23" y="4435910"/>
            <a:ext cx="12089153" cy="1629911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1AF6C45B-1442-9A92-6936-056506550CEC}"/>
              </a:ext>
            </a:extLst>
          </p:cNvPr>
          <p:cNvSpPr/>
          <p:nvPr/>
        </p:nvSpPr>
        <p:spPr>
          <a:xfrm>
            <a:off x="270094" y="3346098"/>
            <a:ext cx="11651810" cy="1089812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C++26 parallel ranges algorithms only support random access range</a:t>
            </a:r>
          </a:p>
          <a:p>
            <a:pPr algn="ctr"/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P3179 has this to say:</a:t>
            </a:r>
          </a:p>
        </p:txBody>
      </p:sp>
    </p:spTree>
    <p:extLst>
      <p:ext uri="{BB962C8B-B14F-4D97-AF65-F5344CB8AC3E}">
        <p14:creationId xmlns:p14="http://schemas.microsoft.com/office/powerpoint/2010/main" val="38317305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F62022-ABC0-F2A3-F008-2DD22DB678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D8368E-EEC5-27CA-811A-1F8C327AA0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Never</a:t>
            </a:r>
          </a:p>
          <a:p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Consistent with range-v3; iterator need to store current sum, so end() is not available in O(1)</a:t>
            </a:r>
          </a:p>
        </p:txBody>
      </p:sp>
    </p:spTree>
    <p:extLst>
      <p:ext uri="{BB962C8B-B14F-4D97-AF65-F5344CB8AC3E}">
        <p14:creationId xmlns:p14="http://schemas.microsoft.com/office/powerpoint/2010/main" val="250471763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B299FB-8622-AAA1-6F80-969609ED62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Borrowed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3B3899-FEB9-FF03-8967-4D47079B03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P3117R1 (design approved by LEWG) may make views::transform conditionally borrowed; the same can apply to views::scan</a:t>
            </a:r>
          </a:p>
          <a:p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Therefore, this proposal also makes </a:t>
            </a:r>
            <a:r>
              <a:rPr lang="en-US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scan_view</a:t>
            </a: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 borrowed if input range is borrowed and functor is “small”</a:t>
            </a:r>
          </a:p>
          <a:p>
            <a:r>
              <a:rPr lang="en-US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Approved by SG9 in Hagenberg</a:t>
            </a:r>
          </a:p>
        </p:txBody>
      </p:sp>
    </p:spTree>
    <p:extLst>
      <p:ext uri="{BB962C8B-B14F-4D97-AF65-F5344CB8AC3E}">
        <p14:creationId xmlns:p14="http://schemas.microsoft.com/office/powerpoint/2010/main" val="35944468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11D9D1-101C-8365-C7B3-46199005AF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Other Properties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6F3BB0-2320-628C-746E-112BD7332C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Sized </a:t>
            </a:r>
            <a:r>
              <a:rPr lang="en-US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iff</a:t>
            </a: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 the input range is sized (same size)</a:t>
            </a:r>
          </a:p>
          <a:p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Const-</a:t>
            </a:r>
            <a:r>
              <a:rPr lang="en-US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iterable</a:t>
            </a: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iff</a:t>
            </a: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 the input range is const-</a:t>
            </a:r>
            <a:r>
              <a:rPr lang="en-US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iterable</a:t>
            </a:r>
            <a:endParaRPr lang="en-US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In freestanding</a:t>
            </a:r>
          </a:p>
          <a:p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FTM: __</a:t>
            </a:r>
            <a:r>
              <a:rPr lang="en-US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cpp_lib_ranges_scan</a:t>
            </a:r>
            <a:endParaRPr lang="en-US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8060898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33A642-121E-FCDA-3573-70E310F588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B9CC53-DF5C-30AE-D996-AFDF396466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Implementation Experience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E75925-C5F7-859A-823A-BE73F0C678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In Beman Project, basically word-for-word from wording</a:t>
            </a:r>
          </a:p>
          <a:p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No significant obstacles</a:t>
            </a:r>
          </a:p>
        </p:txBody>
      </p:sp>
    </p:spTree>
    <p:extLst>
      <p:ext uri="{BB962C8B-B14F-4D97-AF65-F5344CB8AC3E}">
        <p14:creationId xmlns:p14="http://schemas.microsoft.com/office/powerpoint/2010/main" val="60192794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025191-1189-C85D-AEE6-C16F29DBBD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Questions for LEWG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B8CCD138-762C-F780-6C67-9BCA272527D3}"/>
              </a:ext>
            </a:extLst>
          </p:cNvPr>
          <p:cNvSpPr txBox="1">
            <a:spLocks/>
          </p:cNvSpPr>
          <p:nvPr/>
        </p:nvSpPr>
        <p:spPr>
          <a:xfrm>
            <a:off x="818712" y="2222287"/>
            <a:ext cx="10554574" cy="3636511"/>
          </a:xfrm>
          <a:prstGeom prst="rect">
            <a:avLst/>
          </a:prstGeom>
          <a:effectLst>
            <a:outerShdw blurRad="50800" dir="14400000">
              <a:srgbClr val="000000">
                <a:alpha val="40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Naming?</a:t>
            </a:r>
          </a:p>
          <a:p>
            <a:r>
              <a:rPr lang="en-US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regular_invocable</a:t>
            </a: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 (All views currently) or invocable (range-v3 views::</a:t>
            </a:r>
            <a:r>
              <a:rPr lang="en-US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partial_sum</a:t>
            </a: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 / C++23 ranges::</a:t>
            </a:r>
            <a:r>
              <a:rPr lang="en-US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fold_left</a:t>
            </a: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)?</a:t>
            </a:r>
            <a:endParaRPr lang="en-US" sz="22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7197260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Quotable">
  <a:themeElements>
    <a:clrScheme name="Quotable">
      <a:dk1>
        <a:sysClr val="windowText" lastClr="000000"/>
      </a:dk1>
      <a:lt1>
        <a:sysClr val="window" lastClr="FFFFFF"/>
      </a:lt1>
      <a:dk2>
        <a:srgbClr val="212121"/>
      </a:dk2>
      <a:lt2>
        <a:srgbClr val="636363"/>
      </a:lt2>
      <a:accent1>
        <a:srgbClr val="00C6BB"/>
      </a:accent1>
      <a:accent2>
        <a:srgbClr val="6FEBA0"/>
      </a:accent2>
      <a:accent3>
        <a:srgbClr val="B6DF5E"/>
      </a:accent3>
      <a:accent4>
        <a:srgbClr val="EFB251"/>
      </a:accent4>
      <a:accent5>
        <a:srgbClr val="EF755F"/>
      </a:accent5>
      <a:accent6>
        <a:srgbClr val="ED515C"/>
      </a:accent6>
      <a:hlink>
        <a:srgbClr val="8F8F8F"/>
      </a:hlink>
      <a:folHlink>
        <a:srgbClr val="A5A5A5"/>
      </a:folHlink>
    </a:clrScheme>
    <a:fontScheme name="Quotable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Quotable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lumMod val="105000"/>
              </a:schemeClr>
            </a:gs>
            <a:gs pos="100000">
              <a:schemeClr val="phClr">
                <a:tint val="9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98000"/>
                <a:lumMod val="102000"/>
              </a:schemeClr>
              <a:schemeClr val="phClr">
                <a:shade val="98000"/>
                <a:lumMod val="98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innerShdw blurRad="63500" dist="25400" dir="13500000">
              <a:srgbClr val="000000">
                <a:alpha val="75000"/>
              </a:srgbClr>
            </a:inn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</a:schemeClr>
            </a:gs>
            <a:gs pos="100000">
              <a:schemeClr val="phClr">
                <a:tint val="84000"/>
                <a:shade val="84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90000"/>
                <a:satMod val="120000"/>
                <a:lumMod val="90000"/>
              </a:schemeClr>
            </a:gs>
            <a:gs pos="100000">
              <a:schemeClr val="phClr"/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Quotable" id="{39EC5628-30ED-4578-ACD8-9820EDB8E15A}" vid="{6F3559E9-1A4C-49D8-94D4-F41003531C4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Quotable</Template>
  <TotalTime>2449</TotalTime>
  <Words>753</Words>
  <Application>Microsoft Macintosh PowerPoint</Application>
  <PresentationFormat>Widescreen</PresentationFormat>
  <Paragraphs>111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Century Gothic</vt:lpstr>
      <vt:lpstr>Consolas</vt:lpstr>
      <vt:lpstr>Wingdings 2</vt:lpstr>
      <vt:lpstr>Quotable</vt:lpstr>
      <vt:lpstr>P3351: views::scan</vt:lpstr>
      <vt:lpstr>What Is Being Proposed?</vt:lpstr>
      <vt:lpstr>A Tale of Three Scans</vt:lpstr>
      <vt:lpstr>Prior Art</vt:lpstr>
      <vt:lpstr>Function Parameter Defaults</vt:lpstr>
      <vt:lpstr>More Aliases</vt:lpstr>
      <vt:lpstr>Naming</vt:lpstr>
      <vt:lpstr>Range Properties</vt:lpstr>
      <vt:lpstr>Reference and Value Type</vt:lpstr>
      <vt:lpstr>Reference and Value Type (cont’d)</vt:lpstr>
      <vt:lpstr>Transversal Category</vt:lpstr>
      <vt:lpstr>Parallelism</vt:lpstr>
      <vt:lpstr>Parallelism (cont’d)</vt:lpstr>
      <vt:lpstr>Common</vt:lpstr>
      <vt:lpstr>Borrowed</vt:lpstr>
      <vt:lpstr>Other Properties</vt:lpstr>
      <vt:lpstr>Implementation Experience</vt:lpstr>
      <vt:lpstr>Questions for LEWG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Li Yihe</dc:creator>
  <cp:lastModifiedBy>Yihe Li</cp:lastModifiedBy>
  <cp:revision>105</cp:revision>
  <dcterms:created xsi:type="dcterms:W3CDTF">2024-11-18T09:09:14Z</dcterms:created>
  <dcterms:modified xsi:type="dcterms:W3CDTF">2026-08-11T08:40:49Z</dcterms:modified>
</cp:coreProperties>
</file>